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Inter"/>
      <p:bold r:id="rId7"/>
    </p:embeddedFont>
    <p:embeddedFont>
      <p:font typeface="Space Grotesk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1526083"/>
            <a:ext cx="4572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0" y="1868983"/>
            <a:ext cx="6096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Inter"/>
              </a:rPr>
              <a:t>MARKET ANALYSIS • Q4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2211883"/>
            <a:ext cx="5700712" cy="20114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111827"/>
                </a:solidFill>
                <a:latin typeface="Space Grotesk"/>
              </a:rPr>
              <a:t>The Market Growth of 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4451895"/>
            <a:ext cx="4667250" cy="880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4B5563"/>
                </a:solidFill>
                <a:latin typeface="Inter"/>
              </a:rPr>
              <a:t>Navigating the 2025–2035 explosion of autonomous systems and multi-agent enterprise architectures.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609600"/>
            <a:ext cx="3462932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11827"/>
                </a:solidFill>
                <a:latin typeface="Space Grotesk"/>
              </a:rPr>
              <a:t>Market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9875" y="609600"/>
            <a:ext cx="1440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02 /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2921" y="2619375"/>
            <a:ext cx="7346156" cy="1524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sz="12000" b="1" i="0" u="none">
                <a:solidFill>
                  <a:srgbClr val="2563EB"/>
                </a:solidFill>
                <a:latin typeface="Space Grotesk"/>
              </a:rPr>
              <a:t>$180.5B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25328" y="4371975"/>
            <a:ext cx="6941343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74151"/>
                </a:solidFill>
                <a:latin typeface="Inter"/>
              </a:rPr>
              <a:t>Global Agentic AI market valuation by 2035.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7406" y="4848225"/>
            <a:ext cx="7977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B7280"/>
                </a:solidFill>
                <a:latin typeface="Inter"/>
              </a:rPr>
              <a:t>Driven by a 39.2% Compound Annual Growth Rate (CAGR) from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6616"/>
            <a:ext cx="3454449" cy="2579191"/>
          </a:xfrm>
          <a:prstGeom prst="roundRect">
            <a:avLst>
              <a:gd name="adj" fmla="val 44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696616"/>
            <a:ext cx="3454449" cy="2579191"/>
          </a:xfrm>
          <a:prstGeom prst="roundRect">
            <a:avLst>
              <a:gd name="adj" fmla="val 44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28099" y="2696616"/>
            <a:ext cx="3454449" cy="2579191"/>
          </a:xfrm>
          <a:prstGeom prst="roundRect">
            <a:avLst>
              <a:gd name="adj" fmla="val 443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3087141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74" y="3087141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624" y="3087141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11827"/>
                </a:solidFill>
                <a:latin typeface="Space Grotesk"/>
              </a:rPr>
              <a:t>Key Adoption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B7280"/>
                </a:solidFill>
                <a:latin typeface="Inter"/>
              </a:rPr>
              <a:t>Forces accelerating autonomous integrations.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620541"/>
            <a:ext cx="3508836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60.5%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182516"/>
            <a:ext cx="33417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74151"/>
                </a:solidFill>
                <a:latin typeface="Inter"/>
              </a:rPr>
              <a:t>Large Enterprises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4458741"/>
            <a:ext cx="276864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B7280"/>
                </a:solidFill>
                <a:latin typeface="Inter"/>
              </a:rPr>
              <a:t>Multi-department rollouts dominating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9374" y="3620541"/>
            <a:ext cx="3508836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49.6%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9374" y="4182516"/>
            <a:ext cx="33417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74151"/>
                </a:solidFill>
                <a:latin typeface="Inter"/>
              </a:rPr>
              <a:t>Multi-Agent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9374" y="4458741"/>
            <a:ext cx="276864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B7280"/>
                </a:solidFill>
                <a:latin typeface="Inter"/>
              </a:rPr>
              <a:t>Problem decomposition and role specialization.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8624" y="3620541"/>
            <a:ext cx="3508836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111827"/>
                </a:solidFill>
                <a:latin typeface="Space Grotesk"/>
              </a:rPr>
              <a:t>41.2%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8624" y="4182516"/>
            <a:ext cx="33417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74151"/>
                </a:solidFill>
                <a:latin typeface="Inter"/>
              </a:rPr>
              <a:t>North America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8624" y="4458741"/>
            <a:ext cx="2768649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6B7280"/>
                </a:solidFill>
                <a:latin typeface="Inter"/>
              </a:rPr>
              <a:t>Leading global revenue via pure inference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00325" y="5762625"/>
            <a:ext cx="762000" cy="123825"/>
          </a:xfrm>
          <a:prstGeom prst="roundRect">
            <a:avLst>
              <a:gd name="adj" fmla="val 30769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57775" y="5324475"/>
            <a:ext cx="762000" cy="561975"/>
          </a:xfrm>
          <a:prstGeom prst="roundRect">
            <a:avLst>
              <a:gd name="adj" fmla="val 6779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15225" y="3695700"/>
            <a:ext cx="762000" cy="219075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72675" y="2457450"/>
            <a:ext cx="762000" cy="342900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111827"/>
                </a:solidFill>
                <a:latin typeface="Space Grotesk"/>
              </a:rPr>
              <a:t>10-Year Revenue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0668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B7280"/>
                </a:solidFill>
                <a:latin typeface="Inter"/>
              </a:rPr>
              <a:t>Projected global market size in USD Billions.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724025"/>
            <a:ext cx="714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$200B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747962"/>
            <a:ext cx="6762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$150B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771900"/>
            <a:ext cx="685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$100B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795837"/>
            <a:ext cx="619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$50B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5819775"/>
            <a:ext cx="457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"/>
              </a:rPr>
              <a:t>$0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4625" y="5419725"/>
            <a:ext cx="8191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$6.5B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6062" y="6038850"/>
            <a:ext cx="676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B5563"/>
                </a:solidFill>
                <a:latin typeface="Inter"/>
              </a:rPr>
              <a:t>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4925" y="4981575"/>
            <a:ext cx="9334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$29.5B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3512" y="6038850"/>
            <a:ext cx="676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B5563"/>
                </a:solidFill>
                <a:latin typeface="Inter"/>
              </a:rP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8562" y="3352800"/>
            <a:ext cx="9810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11827"/>
                </a:solidFill>
                <a:latin typeface="Inter"/>
              </a:rPr>
              <a:t>$114.9B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0962" y="6038850"/>
            <a:ext cx="676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B5563"/>
                </a:solidFill>
                <a:latin typeface="Inter"/>
              </a:rPr>
              <a:t>2032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6962" y="2114550"/>
            <a:ext cx="10191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Inter"/>
              </a:rPr>
              <a:t>$180.5B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8412" y="6038850"/>
            <a:ext cx="6762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B5563"/>
                </a:solidFill>
                <a:latin typeface="Inter"/>
              </a:rPr>
              <a:t>2035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2106066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5375" y="2448966"/>
            <a:ext cx="1000125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9FAFB"/>
                </a:solidFill>
                <a:latin typeface="Space Grotesk"/>
              </a:rPr>
              <a:t>The Future is Autonomous.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6515" y="4018508"/>
            <a:ext cx="317896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9CA3AF"/>
                </a:solidFill>
                <a:latin typeface="Inter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Space Grotesk</vt:lpstr>
      <vt:lpstr>Calibri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Pragathi Lingamsetty</cp:lastModifiedBy>
  <cp:revision>2</cp:revision>
  <dcterms:created xsi:type="dcterms:W3CDTF">2013-01-27T09:14:16Z</dcterms:created>
  <dcterms:modified xsi:type="dcterms:W3CDTF">2026-10-06T14:50:15Z</dcterms:modified>
  <cp:category/>
</cp:coreProperties>
</file>